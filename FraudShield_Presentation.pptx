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MACHINE LEARNING COURSE PROJECT • UNIT 2</a:t>
            </a:r>
          </a:p>
          <a:p>
            <a:pPr>
              <a:spcAft>
                <a:spcPts val="1000"/>
              </a:spcAft>
              <a:defRPr sz="3800" b="1">
                <a:solidFill>
                  <a:srgbClr val="F8FAFC"/>
                </a:solidFill>
              </a:defRPr>
            </a:pPr>
            <a:r>
              <a:t>FraudShield: Financial Fraud Intelligence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Mathematical Classification with Discriminant Functions, Support Vector Machines &amp; Kernel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Candidate: 3rd Year B.Tech Computer Science &amp; Engineering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</a:defRPr>
            </a:pPr>
            <a:r>
              <a:t>Key Focus Areas: Math Transparency • Manual Least Squares • Linear vs RBF Kernel Trick • High-Recall Cost Matrix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Architecture: FastAPI Backend • Custom NumPy Algorithms • Scikit-Learn SVM • HTML5 Canvas Boundary Viz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Explainable Fraud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F4444"/>
                </a:solidFill>
              </a:defRPr>
            </a:pPr>
            <a:r>
              <a:t>The Modern Banking Challenge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Card-Not-Present &amp; cyber fraud cause billions in losses annually.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Static Rule Engines fail to adapt to complex, multi-feature behavioral shifts.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Black-Box ML (Deep Neural Nets) gives predictions without auditable mathematical reasoning.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Regulatory standards (RBI, GDPR, Basel III) mandate accountability and explainable decision paths for denied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C55E"/>
                </a:solidFill>
              </a:defRPr>
            </a:pPr>
            <a:r>
              <a:t>The FraudShield Objective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Unit 2 Concept Rigor: Implements linear discriminant functions from first mathematical principles.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Hyperplane Transparency: Exposes exact weights, bias, support vectors, and margin widths.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Kernel Trick Verification: Geometrically and numerically proves why non-linear fraud structures require RBF kernels.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Asymmetric Cost Awareness: Models the real-world trade-off where False Negatives are far more dangerous than False Positives.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 &amp; Feature Engineering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Data Layer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Synthetic Banking Generator: 500 samples (20% fraud, 80% legitimate) with realistic multi-modal distributions.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Manual Z-Score Scaler: Implemented in pure NumPy: z = (x - μ) / σ to prevent feature scale distortion.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CSV Batch Parser: Streaming CSV parser with validation for bulk audit uploads.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6-Feature Input Space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Amount ($): Exponential tail, fraud skew ($100-$10k)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Hour of Day: 0-23h, fraud concentrated at late night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Merchant Risk: Beta(7,3) high risk vs Beta(2,8) normal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Distance (km): Geo-deviation from cardholder home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Velocity: Charges in preceding 60 min (Poisson)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International: Binary indicator (0=domestic, 1=overseas)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API &amp; Web UI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FastAPI Asynchronous Backend: Endpoints for /predict, /batch, /boundary, /metrics, and /history.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SQLite Persistence: Stores transactions and full model decision breakdowns in fraudshield.db.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WebSocket Push Engine: Real-time fraud alert delivery.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Interactive HTML5 Canvas: Dynamic 2D decision boundary rendering.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1: Linear Discriminant Function (Manual Least Squares)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Discriminant Function: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g(x) = wᵀx + b = w₁x₁ + w₂x₂ + ... + w₆x₆ + b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Decision Boundary Criterion: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y_pred = 1 (FRAUD) if g(x) ≥ 0.5, else 0 (LEGIT)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Least-Squares Weight Derivation (Normal Equation):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Augment matrix: X_aug = [X, 1]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w_aug = (X_augᵀ X_aug)⁻¹ X_augᵀ y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w = w_aug[:-1],   bias = w_aug[-1]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Pure NumPy implementation with no scikit-learn dependency.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Explainability &amp; Viva Insights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Feature Attribution: The API returns the exact weighted contribution (w_i · x_i) for each feature rather than a single black-box score.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Visual Risk Bars: The UI plots green (negative / safe) vs red (positive / risky) bars showing why a card was flagged.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Least-Squares Sensitivity: In least-squares classification, points far into the safe region still produce errors, shifting the boundary. This demonstrates why SVM maximum margin is mathematically superior.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2: Linear Support Vector Machine (Maximum Margin)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Primal Optimization &amp; Geometry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Objective: Maximize margin between classes: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min_{w,b}  (1/2) ||w||²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subject to: y_i (wᵀx_i + b) ≥ 1, ∀ i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Margin Width Formulation: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Margin = 2 / ||w||₂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Decision Function: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f(x) = wᵀx + b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Sign determines class (+1: Fraud, -1: Legit)</a:t>
            </a:r>
          </a:p>
          <a:p>
            <a:pPr>
              <a:spcAft>
                <a:spcPts val="700"/>
              </a:spcAft>
              <a:defRPr sz="1300">
                <a:solidFill>
                  <a:srgbClr val="F8FAFC"/>
                </a:solidFill>
              </a:defRPr>
            </a:pPr>
            <a:r>
              <a:t>    Magnitude measures distance from decision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C55E"/>
                </a:solidFill>
              </a:defRPr>
            </a:pPr>
            <a:r>
              <a:t>Live Model Introspection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Support Vector Extraction: Displays exact count of critical border samples (n_support_vectors).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Margin Geometry Inspection: Real-time calculation and display of margin width (2 / ||w||).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Learned Weight Vector: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• Merchant Risk: +1.44 (Strongest positive fraud predictor)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• Distance from Home: +0.68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• Transaction Amount: +0.65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• Velocity: +0.57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• Hour: -0.05 (Daytime slightly lowers baseline risk)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3: The Kernel Trick &amp; RBF Non-Linear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Why Do We Need Kernels?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Real-world financial fraud is rarely linearly separable.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Example: Coordinated fraud rings operating around common legitimate clusters create concentric or pocketed patterns.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The Kernel Trick: Implicitly projects input x into an infinite-dimensional feature space Φ(x) without explicit mapping computation: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K(x, x') = ⟨Φ(x), Φ(x')⟩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Radial Basis Function (RBF) Kernel: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    K(x, x') = exp( -γ ||x - x'||² 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Transforms complex geometric boundaries into linear separations in the dual Hilbert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Concentric Ring Benchmark (Live Experiment)</a:t>
            </a:r>
          </a:p>
          <a:p>
            <a:pPr>
              <a:spcAft>
                <a:spcPts val="200"/>
              </a:spcAft>
              <a:defRPr sz="1400" b="1">
                <a:solidFill>
                  <a:srgbClr val="EF4444"/>
                </a:solidFill>
              </a:defRPr>
            </a:pPr>
            <a:r>
              <a:t>Linear Kernel SVM  ➜  67.0% Accuracy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</a:defRPr>
            </a:pPr>
            <a:r>
              <a:t>• Support Vectors: 138 / 200 Support Vectors</a:t>
            </a:r>
            <a:br/>
            <a:r>
              <a:t>• A linear plane cuts across circles, misclassifying large clusters. Almost all points become support vectors.</a:t>
            </a:r>
          </a:p>
          <a:p>
            <a:pPr>
              <a:spcAft>
                <a:spcPts val="200"/>
              </a:spcAft>
              <a:defRPr sz="1400" b="1">
                <a:solidFill>
                  <a:srgbClr val="22C55E"/>
                </a:solidFill>
              </a:defRPr>
            </a:pPr>
            <a:r>
              <a:t>RBF Kernel SVM  ➜  100.0% Accuracy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</a:defRPr>
            </a:pPr>
            <a:r>
              <a:t>• Support Vectors: 28 / 200 Support Vectors</a:t>
            </a:r>
            <a:br/>
            <a:r>
              <a:t>• RBF wraps an optimal circular boundary around the fraud cluster with a wide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Comprehensive Model Evaluation &amp; Test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408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1175004"/>
                <a:gridCol w="1175004"/>
                <a:gridCol w="1175004"/>
                <a:gridCol w="1175004"/>
                <a:gridCol w="1175004"/>
                <a:gridCol w="1175004"/>
                <a:gridCol w="1175004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FN / TP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Linear Discriminant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 / 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 / 19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RBF Kernel SVM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0 / 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 / 19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Key Viva Observation: The Cost Asymmetry of Financial Fraud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• False Positive (FP): A legitimate purchase is flagged. User receives an SMS OTP (Minor friction cost ≈ $25).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• False Negative (FN): A fraudulent charge passes undetected. Direct financial loss + chargeback fines (≈ 3x charge amount).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</a:defRPr>
            </a:pPr>
            <a:r>
              <a:t>• Conclusion: In financial cyber-defense, Recall (Sensitivity) is heavily prioritized over Precision to eliminate False Negatives.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FraudShield Interactive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Single Transaction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Input 6 financial features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1-Click Fraud / Legit sample fill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Real-time discriminant breakdown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Animated contribution bar chart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Decision threshold slider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</a:defRPr>
            </a:pPr>
            <a:r>
              <a:t>Kernel Visualizer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HTML5 600x600 Canvas plot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Concentric 2D ring dataset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Linear vs RBF toggle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Visual support vector markers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Boundary meshgrid contour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</a:defRPr>
            </a:pPr>
            <a:r>
              <a:t>CSV Batch Processing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Bulk CSV drag-and-drop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Real-time row-by-row scoring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Multi-model verdict table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Fraud count summary cards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Auto-logs to SQLite audit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173736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Model Performance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Live test-set metrics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Side-by-side model cards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2x2 confusion matrix grid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Precision / Recall / F1 tracking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Financial risk cost explanations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Architecture &amp; Codebase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Directory Structure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FraudShield/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├── main.py                     (FastAPI Application &amp; WebSockets)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├── data_layer/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├── sample_data.py          (Synthetic Generator, 6 Features)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├── feature_engineering.py  (Manual Z-Score Scaler)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└── csv_parser.py           (Batch Upload CSV Engine)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├── model_layer/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├── discriminant.py         (Manual Least-Squares Classifier)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├── svm_models.py           (Linear &amp; RBF Kernel SVM)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├── logistic_model.py       (Logistic Sigmoidal Classifier)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│   └── model_manager.py        (Training &amp; 2D Grid Coordinator)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├── api_layer/                  (FastAPI Router Endpoints)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├── db/                         (SQLite Audit Database &amp; Auth)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└── frontend/                   (HTML5, CSS3, Vanilla JS Dashboard)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2C55E"/>
                </a:solidFill>
              </a:defRPr>
            </a:pPr>
            <a:r>
              <a:t>Production-Ready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Separation of Concerns: Complete modular isolation between Data, Model, API, and UI layers.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Zero Framework Bloat: Custom NumPy mathematical routines without heavy deep-learning dependencies.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Database Persistence: All processed transactions stored in fraudshield.db with full score serializations.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Real-Time Capabilities: WebSocket integration for live administrative fraud broadcast.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REST API Compliance: Auto-generated OpenAPI / Swagger UI documentation at /docs.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Summary, Academic Learnings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Key Academic Learnings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Linear Discriminants via Least-Squares: Proved how ordinary regression acts as a linear classifier and mathematically observed boundary shifting caused by outliers.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Margin Maximization: Understood why maximizing 2/||w|| produces superior generalization compared to minimizing total squared residuals.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The Kernel Trick: Directly witnessed how transforming non-linear clusters into higher-dimensional representations enables 100% linear separability.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Cost-Sensitive Classification: Recognized that in fraud detection, optimizing for accuracy alone is dangerous without evaluating False Negatives.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➜ Automated Hyperparameter Grid Search: Online tuning of SVM slack parameter C and RBF kernel parameter γ.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➜ Streaming Big Data Ingestion: Connecting the API layer to Apache Kafka for sub-millisecond fraud scoring on live card terminal streams.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➜ Public Benchmark Integration: Ingesting the real-world Kaggle European Cardholders 284,000 transaction dataset (with PCA features).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➜ Adaptive Concept Drift Retraining: Dynamically shifting decision hyperplanes when consumer spending patterns change during holiday seasons.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FRAUDSHIELD • B.TECH CSE ML VIVA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Viva Voce Reference &amp; Examiner Q&amp;A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38BDF8"/>
                </a:solidFill>
              </a:defRPr>
            </a:pPr>
            <a:r>
              <a:t>Q1: Why does Least Squares work as a classifier, and what is its main drawback?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By assigning targets {0, 1}, least-squares solves w = (XᵀX)⁻¹Xᵀy to minimize MSE. Its drawback is sensitivity to outliers: points correctly classified far from the boundary still generate large squared errors, which unfairly pulls the decision plane.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64408"/>
            <a:ext cx="10149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38BDF8"/>
                </a:solidFill>
              </a:defRPr>
            </a:pPr>
            <a:r>
              <a:t>Q2: What is the physical and mathematical meaning of margin width 2 / ||w||?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It represents the orthogonal distance between the positive and negative supporting hyperplanes (wᵀx + b = +1 and wᵀx + b = -1). Maximizing this margin minimizes the VC dimension, improving generalization on unseen test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64608"/>
            <a:ext cx="10149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38BDF8"/>
                </a:solidFill>
              </a:defRPr>
            </a:pPr>
            <a:r>
              <a:t>Q3: Why did Linear SVM require 138 Support Vectors, while RBF SVM only needed 28?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In the concentric ring dataset, a linear line cannot separate inner fraud from outer legitimate points. Almost all points near the center violate the margin constraint and become support vectors. The RBF kernel maps data to a space where a clean circular contour separates classes with only 28 boundary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